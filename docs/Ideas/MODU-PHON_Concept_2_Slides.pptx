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547104"/>
            <a:ext cx="11365992" cy="0"/>
          </a:xfrm>
          <a:prstGeom prst="line">
            <a:avLst/>
          </a:prstGeom>
          <a:noFill/>
          <a:ln w="8890">
            <a:solidFill>
              <a:srgbClr val="CAD3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8368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spc="150" kern="0" dirty="0">
                <a:solidFill>
                  <a:srgbClr val="6E7A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 ANGEL SOSA  /  INDUSTRIAL DESIGN</a:t>
            </a:r>
            <a:endParaRPr lang="en-US" sz="5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6E7A8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6E7A8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51960" cy="6547104"/>
          </a:xfrm>
          <a:prstGeom prst="rect">
            <a:avLst/>
          </a:prstGeom>
          <a:solidFill>
            <a:srgbClr val="F2F4F5"/>
          </a:solidFill>
          <a:ln w="12700">
            <a:solidFill>
              <a:srgbClr val="F2F4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51960" y="0"/>
            <a:ext cx="7936992" cy="6547104"/>
          </a:xfrm>
          <a:prstGeom prst="rect">
            <a:avLst/>
          </a:prstGeom>
          <a:solidFill>
            <a:srgbClr val="E7ECEF"/>
          </a:solidFill>
          <a:ln w="12700">
            <a:solidFill>
              <a:srgbClr val="E7ECEF"/>
            </a:solidFill>
            <a:prstDash val="solid"/>
          </a:ln>
        </p:spPr>
      </p:sp>
      <p:pic>
        <p:nvPicPr>
          <p:cNvPr id="4" name="Image 0" descr="/workspace/scratch/0f6276a2e257/upload/01-1790656711937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1036106"/>
            <a:ext cx="7936992" cy="447489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251960" y="685800"/>
            <a:ext cx="0" cy="5102352"/>
          </a:xfrm>
          <a:prstGeom prst="line">
            <a:avLst/>
          </a:prstGeom>
          <a:noFill/>
          <a:ln w="27940">
            <a:solidFill>
              <a:srgbClr val="36A7D8">
                <a:alpha val="95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30352" y="4389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210" kern="0" dirty="0">
                <a:solidFill>
                  <a:srgbClr val="1574A8"/>
                </a:solidFill>
              </a:rPr>
              <a:t>CONCEPTO DE PRODUCTO</a:t>
            </a:r>
            <a:endParaRPr lang="en-US" sz="720" dirty="0"/>
          </a:p>
        </p:txBody>
      </p:sp>
      <p:sp>
        <p:nvSpPr>
          <p:cNvPr id="7" name="Text 4"/>
          <p:cNvSpPr/>
          <p:nvPr/>
        </p:nvSpPr>
        <p:spPr>
          <a:xfrm>
            <a:off x="502920" y="713232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6323A"/>
                </a:solidFill>
              </a:rPr>
              <a:t>MODU-PHON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530352" y="1444752"/>
            <a:ext cx="429768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B6870"/>
                </a:solidFill>
              </a:rPr>
              <a:t>Un núcleo flexible que se adapta a la forma, el material y la función que exige cada contexto.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30352" y="2267712"/>
            <a:ext cx="3154680" cy="9601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F3B42"/>
                </a:solidFill>
              </a:rPr>
              <a:t>La pantalla deja de imponer una carcasa fija. El usuario inserta el módulo en una estructura especializada y transforma el mismo dispositivo.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30352" y="3703320"/>
            <a:ext cx="2971800" cy="0"/>
          </a:xfrm>
          <a:prstGeom prst="line">
            <a:avLst/>
          </a:prstGeom>
          <a:noFill/>
          <a:ln w="10160">
            <a:solidFill>
              <a:srgbClr val="AAB6B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" y="38862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70" kern="0" dirty="0">
                <a:solidFill>
                  <a:srgbClr val="1574A8"/>
                </a:solidFill>
              </a:rPr>
              <a:t>PRINCIPIO DE DISEÑO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530352" y="417880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6323A"/>
                </a:solidFill>
              </a:rPr>
              <a:t>Un teléfono. Múltiples identidades físicas.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530352" y="51389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870"/>
                </a:solidFill>
              </a:rPr>
              <a:t>Pantalla curva  •  Interfaz estandarizada  •  Carcasas reemplazables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6E7A8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7726680" cy="5806440"/>
          </a:xfrm>
          <a:prstGeom prst="rect">
            <a:avLst>
              <a:gd name="adj" fmla="val 1260"/>
            </a:avLst>
          </a:prstGeom>
          <a:solidFill>
            <a:srgbClr val="E9EEF1"/>
          </a:solidFill>
          <a:ln w="10160">
            <a:solidFill>
              <a:srgbClr val="D1DADF"/>
            </a:solidFill>
            <a:prstDash val="solid"/>
          </a:ln>
        </p:spPr>
      </p:sp>
      <p:pic>
        <p:nvPicPr>
          <p:cNvPr id="3" name="Image 0" descr="/workspace/scratch/0f6276a2e257/generated_images/exec-ed9a4e5e-125b-431e-b463-26e98bb875c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168554"/>
            <a:ext cx="7479792" cy="42191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58200" y="50292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90" kern="0" dirty="0">
                <a:solidFill>
                  <a:srgbClr val="1574A8"/>
                </a:solidFill>
              </a:rPr>
              <a:t>ECOSISTEMA MODULAR</a:t>
            </a:r>
            <a:endParaRPr lang="en-US" sz="720" dirty="0"/>
          </a:p>
        </p:txBody>
      </p:sp>
      <p:sp>
        <p:nvSpPr>
          <p:cNvPr id="5" name="Text 2"/>
          <p:cNvSpPr/>
          <p:nvPr/>
        </p:nvSpPr>
        <p:spPr>
          <a:xfrm>
            <a:off x="8430768" y="786384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6323A"/>
                </a:solidFill>
              </a:rPr>
              <a:t>La carcasa define el uso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8439912" y="1664208"/>
            <a:ext cx="3063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B6870"/>
                </a:solidFill>
              </a:rPr>
              <a:t>Cada estructura aporta ergonomía, protección o capacidades nuevas sin duplicar el componente tecnológico de mayor valor.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449056" y="2816352"/>
            <a:ext cx="201168" cy="201168"/>
          </a:xfrm>
          <a:prstGeom prst="ellipse">
            <a:avLst/>
          </a:prstGeom>
          <a:solidFill>
            <a:srgbClr val="8798A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759952" y="278892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spc="120" kern="0" dirty="0">
                <a:solidFill>
                  <a:srgbClr val="26323A"/>
                </a:solidFill>
              </a:rPr>
              <a:t>USO DIARIO</a:t>
            </a:r>
            <a:endParaRPr lang="en-US" sz="740" dirty="0"/>
          </a:p>
        </p:txBody>
      </p:sp>
      <p:sp>
        <p:nvSpPr>
          <p:cNvPr id="9" name="Text 6"/>
          <p:cNvSpPr/>
          <p:nvPr/>
        </p:nvSpPr>
        <p:spPr>
          <a:xfrm>
            <a:off x="8759952" y="301752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870"/>
                </a:solidFill>
              </a:rPr>
              <a:t>Aluminio, blanco ergonómico y acabados de moda.</a:t>
            </a:r>
            <a:endParaRPr lang="en-US" sz="1030" dirty="0"/>
          </a:p>
        </p:txBody>
      </p:sp>
      <p:sp>
        <p:nvSpPr>
          <p:cNvPr id="10" name="Shape 7"/>
          <p:cNvSpPr/>
          <p:nvPr/>
        </p:nvSpPr>
        <p:spPr>
          <a:xfrm>
            <a:off x="8449056" y="3639312"/>
            <a:ext cx="201168" cy="201168"/>
          </a:xfrm>
          <a:prstGeom prst="ellipse">
            <a:avLst/>
          </a:prstGeom>
          <a:solidFill>
            <a:srgbClr val="8798A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59952" y="361188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spc="120" kern="0" dirty="0">
                <a:solidFill>
                  <a:srgbClr val="26323A"/>
                </a:solidFill>
              </a:rPr>
              <a:t>TRABAJO Y VIAJE</a:t>
            </a:r>
            <a:endParaRPr lang="en-US" sz="740" dirty="0"/>
          </a:p>
        </p:txBody>
      </p:sp>
      <p:sp>
        <p:nvSpPr>
          <p:cNvPr id="12" name="Text 9"/>
          <p:cNvSpPr/>
          <p:nvPr/>
        </p:nvSpPr>
        <p:spPr>
          <a:xfrm>
            <a:off x="8759952" y="384048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870"/>
                </a:solidFill>
              </a:rPr>
              <a:t>Cuero ejecutivo, protección reforzada y agarre seguro.</a:t>
            </a:r>
            <a:endParaRPr lang="en-US" sz="1030" dirty="0"/>
          </a:p>
        </p:txBody>
      </p:sp>
      <p:sp>
        <p:nvSpPr>
          <p:cNvPr id="13" name="Shape 10"/>
          <p:cNvSpPr/>
          <p:nvPr/>
        </p:nvSpPr>
        <p:spPr>
          <a:xfrm>
            <a:off x="8449056" y="4462272"/>
            <a:ext cx="201168" cy="201168"/>
          </a:xfrm>
          <a:prstGeom prst="ellipse">
            <a:avLst/>
          </a:prstGeom>
          <a:solidFill>
            <a:srgbClr val="36A7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59952" y="443484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spc="120" kern="0" dirty="0">
                <a:solidFill>
                  <a:srgbClr val="26323A"/>
                </a:solidFill>
              </a:rPr>
              <a:t>FUNCIÓN EXTENDIDA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759952" y="466344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870"/>
                </a:solidFill>
              </a:rPr>
              <a:t>Empuñadura fotográfica, base de escritorio y audio.</a:t>
            </a:r>
            <a:endParaRPr lang="en-US" sz="1030" dirty="0"/>
          </a:p>
        </p:txBody>
      </p:sp>
      <p:sp>
        <p:nvSpPr>
          <p:cNvPr id="16" name="Shape 13"/>
          <p:cNvSpPr/>
          <p:nvPr/>
        </p:nvSpPr>
        <p:spPr>
          <a:xfrm>
            <a:off x="8449056" y="5285232"/>
            <a:ext cx="201168" cy="201168"/>
          </a:xfrm>
          <a:prstGeom prst="ellipse">
            <a:avLst/>
          </a:prstGeom>
          <a:solidFill>
            <a:srgbClr val="8798A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759952" y="525780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spc="120" kern="0" dirty="0">
                <a:solidFill>
                  <a:srgbClr val="26323A"/>
                </a:solidFill>
              </a:rPr>
              <a:t>PERSONALIZACIÓN</a:t>
            </a:r>
            <a:endParaRPr lang="en-US" sz="740" dirty="0"/>
          </a:p>
        </p:txBody>
      </p:sp>
      <p:sp>
        <p:nvSpPr>
          <p:cNvPr id="18" name="Text 15"/>
          <p:cNvSpPr/>
          <p:nvPr/>
        </p:nvSpPr>
        <p:spPr>
          <a:xfrm>
            <a:off x="8759952" y="548640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870"/>
                </a:solidFill>
              </a:rPr>
              <a:t>Materiales translúcidos, textiles y ediciones estacionales.</a:t>
            </a:r>
            <a:endParaRPr lang="en-US" sz="1030" dirty="0"/>
          </a:p>
        </p:txBody>
      </p:sp>
      <p:sp>
        <p:nvSpPr>
          <p:cNvPr id="19" name="Shape 16"/>
          <p:cNvSpPr/>
          <p:nvPr/>
        </p:nvSpPr>
        <p:spPr>
          <a:xfrm>
            <a:off x="8421624" y="5980176"/>
            <a:ext cx="3063240" cy="393192"/>
          </a:xfrm>
          <a:prstGeom prst="roundRect">
            <a:avLst>
              <a:gd name="adj" fmla="val 18605"/>
            </a:avLst>
          </a:prstGeom>
          <a:solidFill>
            <a:srgbClr val="26323A"/>
          </a:solidFill>
          <a:ln w="12700">
            <a:solidFill>
              <a:srgbClr val="26323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577072" y="6089904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35" kern="0" dirty="0">
                <a:solidFill>
                  <a:srgbClr val="FFFFFF"/>
                </a:solidFill>
              </a:rPr>
              <a:t>9 CARCASAS  /  1 NÚCLEO FLEXIBLE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6E7A8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J Angel Sosa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MODU-PHON — Modular Flexible Phone</dc:title>
  <dc:subject>MODU-PHON industrial design concept</dc:subject>
  <dc:creator>José Ángel Sosa López</dc:creator>
  <cp:lastModifiedBy>José Ángel Sosa López</cp:lastModifiedBy>
  <cp:revision>1</cp:revision>
  <dcterms:created xsi:type="dcterms:W3CDTF">2026-09-29T04:43:17Z</dcterms:created>
  <dcterms:modified xsi:type="dcterms:W3CDTF">2026-09-29T04:43:17Z</dcterms:modified>
</cp:coreProperties>
</file>